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61" r:id="rId5"/>
    <p:sldId id="263" r:id="rId6"/>
    <p:sldId id="264" r:id="rId7"/>
    <p:sldId id="265" r:id="rId8"/>
    <p:sldId id="267" r:id="rId9"/>
    <p:sldId id="272" r:id="rId10"/>
    <p:sldId id="273" r:id="rId11"/>
    <p:sldId id="274" r:id="rId12"/>
    <p:sldId id="275" r:id="rId13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6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6656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0.png"/><Relationship Id="rId4" Type="http://schemas.openxmlformats.org/officeDocument/2006/relationships/image" Target="../media/image25.png"/><Relationship Id="rId9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39572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5815584"/>
            <a:ext cx="13048488" cy="36576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795528" y="3602736"/>
            <a:ext cx="13048488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6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Object-Oriented Programming in Python</a:t>
            </a:r>
            <a:endParaRPr lang="en-US" sz="61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39572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4773168"/>
            <a:ext cx="6409944" cy="198424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4072" y="4773168"/>
            <a:ext cx="6409944" cy="198424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6192" y="4855464"/>
            <a:ext cx="5678424" cy="198424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5592" y="4855464"/>
            <a:ext cx="5678424" cy="198424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4764024"/>
            <a:ext cx="548640" cy="54864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5784" y="4764024"/>
            <a:ext cx="548640" cy="54864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795528" y="3813048"/>
            <a:ext cx="13048488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1. Introduction to OOP in Python</a:t>
            </a:r>
            <a:endParaRPr lang="en-US" sz="4460" dirty="0"/>
          </a:p>
        </p:txBody>
      </p:sp>
      <p:sp>
        <p:nvSpPr>
          <p:cNvPr id="11" name="Text 1"/>
          <p:cNvSpPr/>
          <p:nvPr/>
        </p:nvSpPr>
        <p:spPr>
          <a:xfrm>
            <a:off x="950976" y="4782312"/>
            <a:ext cx="201168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210"/>
              </a:lnSpc>
              <a:buNone/>
            </a:pPr>
            <a:r>
              <a:rPr lang="en-US" sz="267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2670" dirty="0"/>
          </a:p>
        </p:txBody>
      </p:sp>
      <p:sp>
        <p:nvSpPr>
          <p:cNvPr id="12" name="Text 2"/>
          <p:cNvSpPr/>
          <p:nvPr/>
        </p:nvSpPr>
        <p:spPr>
          <a:xfrm>
            <a:off x="1536192" y="4855464"/>
            <a:ext cx="5678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Object-Oriented Programming (OOP) organizes code into classes and objects.</a:t>
            </a:r>
            <a:endParaRPr lang="en-US" sz="2000" dirty="0"/>
          </a:p>
        </p:txBody>
      </p:sp>
      <p:sp>
        <p:nvSpPr>
          <p:cNvPr id="13" name="Text 3"/>
          <p:cNvSpPr/>
          <p:nvPr/>
        </p:nvSpPr>
        <p:spPr>
          <a:xfrm>
            <a:off x="7589520" y="4782312"/>
            <a:ext cx="201168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210"/>
              </a:lnSpc>
              <a:buNone/>
            </a:pPr>
            <a:r>
              <a:rPr lang="en-US" sz="267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2670" dirty="0"/>
          </a:p>
        </p:txBody>
      </p:sp>
      <p:sp>
        <p:nvSpPr>
          <p:cNvPr id="14" name="Text 4"/>
          <p:cNvSpPr/>
          <p:nvPr/>
        </p:nvSpPr>
        <p:spPr>
          <a:xfrm>
            <a:off x="8165592" y="4855464"/>
            <a:ext cx="5678424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Core principles:</a:t>
            </a:r>
            <a:endParaRPr lang="en-US" sz="2000" dirty="0"/>
          </a:p>
        </p:txBody>
      </p:sp>
      <p:sp>
        <p:nvSpPr>
          <p:cNvPr id="15" name="Text 5"/>
          <p:cNvSpPr/>
          <p:nvPr/>
        </p:nvSpPr>
        <p:spPr>
          <a:xfrm>
            <a:off x="8165592" y="5340096"/>
            <a:ext cx="5897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 • Encapsulation: group related data and methods.</a:t>
            </a:r>
            <a:endParaRPr lang="en-US" sz="2000" dirty="0"/>
          </a:p>
        </p:txBody>
      </p:sp>
      <p:sp>
        <p:nvSpPr>
          <p:cNvPr id="16" name="Text 6"/>
          <p:cNvSpPr/>
          <p:nvPr/>
        </p:nvSpPr>
        <p:spPr>
          <a:xfrm>
            <a:off x="8165591" y="6108192"/>
            <a:ext cx="62262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 • Inheritance: create new classes from existing ones.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07" y="-24716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5757" y="-488741"/>
            <a:ext cx="585216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47688" y="1868556"/>
            <a:ext cx="71963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2. Creating the Base Class — Point3D</a:t>
            </a:r>
            <a:endParaRPr lang="en-US" sz="4460" dirty="0"/>
          </a:p>
        </p:txBody>
      </p:sp>
      <p:sp>
        <p:nvSpPr>
          <p:cNvPr id="5" name="Text 1"/>
          <p:cNvSpPr/>
          <p:nvPr/>
        </p:nvSpPr>
        <p:spPr>
          <a:xfrm>
            <a:off x="6647688" y="3541908"/>
            <a:ext cx="7196328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Define a 3D point with x, y, and z coordinates.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6647688" y="4081404"/>
            <a:ext cx="7196328" cy="143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class Point3D: </a:t>
            </a:r>
            <a:endParaRPr lang="en-US" sz="2000" dirty="0" smtClean="0">
              <a:solidFill>
                <a:srgbClr val="000000"/>
              </a:solidFill>
              <a:latin typeface="思源黑体-思源黑体-Medium" pitchFamily="34" charset="0"/>
              <a:ea typeface="思源黑体-思源黑体-Medium" pitchFamily="34" charset="-122"/>
              <a:cs typeface="思源黑体-思源黑体-Medium" pitchFamily="34" charset="-120"/>
            </a:endParaRPr>
          </a:p>
          <a:p>
            <a:pPr marL="0" indent="0" algn="l">
              <a:lnSpc>
                <a:spcPts val="2230"/>
              </a:lnSpc>
              <a:buNone/>
            </a:pP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     </a:t>
            </a:r>
            <a:r>
              <a:rPr lang="en-US" sz="2000" dirty="0" err="1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def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_init_(self, x, y, z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):</a:t>
            </a:r>
          </a:p>
          <a:p>
            <a:pPr marL="0" indent="0" algn="l">
              <a:lnSpc>
                <a:spcPts val="223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	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self.x = x </a:t>
            </a:r>
            <a:endParaRPr lang="en-US" sz="2000" dirty="0" smtClean="0">
              <a:solidFill>
                <a:srgbClr val="000000"/>
              </a:solidFill>
              <a:latin typeface="思源黑体-思源黑体-Medium" pitchFamily="34" charset="0"/>
              <a:ea typeface="思源黑体-思源黑体-Medium" pitchFamily="34" charset="-122"/>
              <a:cs typeface="思源黑体-思源黑体-Medium" pitchFamily="34" charset="-120"/>
            </a:endParaRPr>
          </a:p>
          <a:p>
            <a:pPr marL="0" indent="0" algn="l">
              <a:lnSpc>
                <a:spcPts val="223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	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self.y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= y </a:t>
            </a:r>
            <a:endParaRPr lang="en-US" sz="2000" dirty="0" smtClean="0">
              <a:solidFill>
                <a:srgbClr val="000000"/>
              </a:solidFill>
              <a:latin typeface="思源黑体-思源黑体-Medium" pitchFamily="34" charset="0"/>
              <a:ea typeface="思源黑体-思源黑体-Medium" pitchFamily="34" charset="-122"/>
              <a:cs typeface="思源黑体-思源黑体-Medium" pitchFamily="34" charset="-120"/>
            </a:endParaRPr>
          </a:p>
          <a:p>
            <a:pPr marL="0" indent="0" algn="l">
              <a:lnSpc>
                <a:spcPts val="223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          </a:t>
            </a:r>
            <a:r>
              <a:rPr lang="en-US" sz="2000" dirty="0" err="1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self.z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= z</a:t>
            </a:r>
            <a:endParaRPr lang="en-US" sz="2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752" y="5788616"/>
            <a:ext cx="6446520" cy="1709928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5448" y="5788616"/>
            <a:ext cx="6446520" cy="1709928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2080" y="6806316"/>
            <a:ext cx="5925312" cy="283464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1480" y="6806316"/>
            <a:ext cx="5925312" cy="283464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3792" y="5882772"/>
            <a:ext cx="713232" cy="713232"/>
          </a:xfrm>
          <a:prstGeom prst="rect">
            <a:avLst/>
          </a:prstGeom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52336" y="6026360"/>
            <a:ext cx="713232" cy="713232"/>
          </a:xfrm>
          <a:prstGeom prst="rect">
            <a:avLst/>
          </a:prstGeom>
        </p:spPr>
      </p:pic>
      <p:sp>
        <p:nvSpPr>
          <p:cNvPr id="13" name="Text 1"/>
          <p:cNvSpPr/>
          <p:nvPr/>
        </p:nvSpPr>
        <p:spPr>
          <a:xfrm>
            <a:off x="1278968" y="6010788"/>
            <a:ext cx="18288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890"/>
              </a:lnSpc>
              <a:buNone/>
            </a:pPr>
            <a:r>
              <a:rPr lang="en-US" sz="241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2410" dirty="0"/>
          </a:p>
        </p:txBody>
      </p:sp>
      <p:sp>
        <p:nvSpPr>
          <p:cNvPr id="14" name="Text 2"/>
          <p:cNvSpPr/>
          <p:nvPr/>
        </p:nvSpPr>
        <p:spPr>
          <a:xfrm>
            <a:off x="1032080" y="6806316"/>
            <a:ext cx="5925312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2000" dirty="0">
                <a:solidFill>
                  <a:srgbClr val="C2C2C2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The constructor _init_ initializes the coordinates.</a:t>
            </a:r>
            <a:endParaRPr lang="en-US" sz="2000" dirty="0"/>
          </a:p>
        </p:txBody>
      </p:sp>
      <p:sp>
        <p:nvSpPr>
          <p:cNvPr id="15" name="Text 3"/>
          <p:cNvSpPr/>
          <p:nvPr/>
        </p:nvSpPr>
        <p:spPr>
          <a:xfrm>
            <a:off x="7917512" y="6010788"/>
            <a:ext cx="18288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890"/>
              </a:lnSpc>
              <a:buNone/>
            </a:pPr>
            <a:r>
              <a:rPr lang="en-US" sz="241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2410" dirty="0"/>
          </a:p>
        </p:txBody>
      </p:sp>
      <p:sp>
        <p:nvSpPr>
          <p:cNvPr id="16" name="Text 4"/>
          <p:cNvSpPr/>
          <p:nvPr/>
        </p:nvSpPr>
        <p:spPr>
          <a:xfrm>
            <a:off x="7661480" y="6949904"/>
            <a:ext cx="5925312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C2C2C2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Each object of </a:t>
            </a:r>
            <a:r>
              <a:rPr lang="en-US" sz="2000" dirty="0">
                <a:solidFill>
                  <a:srgbClr val="C2C2C2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Point3D</a:t>
            </a:r>
            <a:r>
              <a:rPr lang="en-US" sz="1780" dirty="0">
                <a:solidFill>
                  <a:srgbClr val="C2C2C2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represents a point in 3D space.</a:t>
            </a:r>
            <a:endParaRPr lang="en-US" sz="1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4" y="0"/>
            <a:ext cx="4974336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2470868"/>
            <a:ext cx="8101584" cy="80467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3639844"/>
            <a:ext cx="8101584" cy="804672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813816" y="1234440"/>
            <a:ext cx="8074152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3. Understanding self</a:t>
            </a:r>
            <a:endParaRPr lang="en-US" sz="4460" dirty="0"/>
          </a:p>
        </p:txBody>
      </p:sp>
      <p:sp>
        <p:nvSpPr>
          <p:cNvPr id="7" name="Text 1"/>
          <p:cNvSpPr/>
          <p:nvPr/>
        </p:nvSpPr>
        <p:spPr>
          <a:xfrm>
            <a:off x="1042416" y="2736044"/>
            <a:ext cx="758952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self represents the instance of the class.</a:t>
            </a:r>
            <a:endParaRPr lang="en-US" sz="2000" dirty="0"/>
          </a:p>
        </p:txBody>
      </p:sp>
      <p:sp>
        <p:nvSpPr>
          <p:cNvPr id="8" name="Text 2"/>
          <p:cNvSpPr/>
          <p:nvPr/>
        </p:nvSpPr>
        <p:spPr>
          <a:xfrm>
            <a:off x="1042416" y="3895876"/>
            <a:ext cx="758952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It allows access to instance variables and methods.</a:t>
            </a:r>
            <a:endParaRPr lang="en-US" sz="2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6708380"/>
            <a:ext cx="8379303" cy="804672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795528" y="5076776"/>
            <a:ext cx="8361724" cy="5760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460"/>
              </a:lnSpc>
              <a:buNone/>
            </a:pPr>
            <a:r>
              <a:rPr lang="en-US" sz="357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Example</a:t>
            </a:r>
            <a:endParaRPr lang="en-US" sz="3570" dirty="0"/>
          </a:p>
        </p:txBody>
      </p:sp>
      <p:sp>
        <p:nvSpPr>
          <p:cNvPr id="16" name="Text 1"/>
          <p:cNvSpPr/>
          <p:nvPr/>
        </p:nvSpPr>
        <p:spPr>
          <a:xfrm>
            <a:off x="795528" y="5899736"/>
            <a:ext cx="8361724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def display(self): </a:t>
            </a:r>
            <a:endParaRPr lang="en-US" sz="2000" dirty="0" smtClean="0">
              <a:solidFill>
                <a:srgbClr val="000000"/>
              </a:solidFill>
              <a:latin typeface="思源黑体-思源黑体-Medium" pitchFamily="34" charset="0"/>
              <a:ea typeface="思源黑体-思源黑体-Medium" pitchFamily="34" charset="-122"/>
              <a:cs typeface="思源黑体-思源黑体-Medium" pitchFamily="34" charset="-120"/>
            </a:endParaRPr>
          </a:p>
          <a:p>
            <a:pPr marL="0" indent="0" algn="l">
              <a:lnSpc>
                <a:spcPts val="223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   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print(f"Point3D</a:t>
            </a: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: ({self.x}, {self.y}, {self.z})")</a:t>
            </a:r>
            <a:endParaRPr lang="en-US" sz="2000" dirty="0"/>
          </a:p>
        </p:txBody>
      </p:sp>
      <p:sp>
        <p:nvSpPr>
          <p:cNvPr id="17" name="Text 2"/>
          <p:cNvSpPr/>
          <p:nvPr/>
        </p:nvSpPr>
        <p:spPr>
          <a:xfrm>
            <a:off x="1042416" y="6964412"/>
            <a:ext cx="8051162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2000" dirty="0">
                <a:solidFill>
                  <a:srgbClr val="C2C2C2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Here, self.x, self.y, and self.z refer to the object’s own data.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85216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43116" y="1417320"/>
            <a:ext cx="71963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4. Displaying and Moving a 3D Point</a:t>
            </a:r>
            <a:endParaRPr lang="en-US" sz="4460" dirty="0"/>
          </a:p>
        </p:txBody>
      </p:sp>
      <p:sp>
        <p:nvSpPr>
          <p:cNvPr id="5" name="Text 1"/>
          <p:cNvSpPr/>
          <p:nvPr/>
        </p:nvSpPr>
        <p:spPr>
          <a:xfrm>
            <a:off x="6806714" y="4132359"/>
            <a:ext cx="7196328" cy="2215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class Point3D: </a:t>
            </a:r>
            <a:endParaRPr lang="en-US" sz="2000" dirty="0" smtClean="0">
              <a:solidFill>
                <a:srgbClr val="000000"/>
              </a:solidFill>
              <a:latin typeface="思源黑体-思源黑体-Medium" pitchFamily="34" charset="0"/>
              <a:ea typeface="思源黑体-思源黑体-Medium" pitchFamily="34" charset="-122"/>
              <a:cs typeface="思源黑体-思源黑体-Medium" pitchFamily="34" charset="-120"/>
            </a:endParaRPr>
          </a:p>
          <a:p>
            <a:pPr marL="0" indent="0" algn="l">
              <a:lnSpc>
                <a:spcPts val="2230"/>
              </a:lnSpc>
              <a:buNone/>
            </a:pPr>
            <a:endParaRPr lang="en-US" sz="2000" dirty="0" smtClean="0">
              <a:solidFill>
                <a:srgbClr val="000000"/>
              </a:solidFill>
              <a:latin typeface="思源黑体-思源黑体-Medium" pitchFamily="34" charset="0"/>
              <a:ea typeface="思源黑体-思源黑体-Medium" pitchFamily="34" charset="-122"/>
              <a:cs typeface="思源黑体-思源黑体-Medium" pitchFamily="34" charset="-120"/>
            </a:endParaRPr>
          </a:p>
          <a:p>
            <a:pPr marL="0" indent="0" algn="l">
              <a:lnSpc>
                <a:spcPts val="2230"/>
              </a:lnSpc>
              <a:buNone/>
            </a:pP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     </a:t>
            </a:r>
            <a:r>
              <a:rPr lang="en-US" sz="2000" dirty="0" err="1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def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_init_(self, x, y, z): </a:t>
            </a:r>
            <a:endParaRPr lang="en-US" sz="2000" dirty="0" smtClean="0">
              <a:solidFill>
                <a:srgbClr val="000000"/>
              </a:solidFill>
              <a:latin typeface="思源黑体-思源黑体-Medium" pitchFamily="34" charset="0"/>
              <a:ea typeface="思源黑体-思源黑体-Medium" pitchFamily="34" charset="-122"/>
              <a:cs typeface="思源黑体-思源黑体-Medium" pitchFamily="34" charset="-120"/>
            </a:endParaRPr>
          </a:p>
          <a:p>
            <a:pPr marL="0" indent="0" algn="l">
              <a:lnSpc>
                <a:spcPts val="223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          </a:t>
            </a:r>
            <a:r>
              <a:rPr lang="en-US" sz="2000" dirty="0" err="1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self.x</a:t>
            </a: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, self.y, self.z = x, y, z </a:t>
            </a:r>
            <a:endParaRPr lang="en-US" sz="2000" dirty="0" smtClean="0">
              <a:solidFill>
                <a:srgbClr val="000000"/>
              </a:solidFill>
              <a:latin typeface="思源黑体-思源黑体-Medium" pitchFamily="34" charset="0"/>
              <a:ea typeface="思源黑体-思源黑体-Medium" pitchFamily="34" charset="-122"/>
              <a:cs typeface="思源黑体-思源黑体-Medium" pitchFamily="34" charset="-120"/>
            </a:endParaRPr>
          </a:p>
          <a:p>
            <a:pPr marL="0" indent="0" algn="l">
              <a:lnSpc>
                <a:spcPts val="2230"/>
              </a:lnSpc>
              <a:buNone/>
            </a:pPr>
            <a:endParaRPr lang="en-US" sz="2000" dirty="0" smtClean="0">
              <a:solidFill>
                <a:srgbClr val="000000"/>
              </a:solidFill>
              <a:latin typeface="思源黑体-思源黑体-Medium" pitchFamily="34" charset="0"/>
              <a:ea typeface="思源黑体-思源黑体-Medium" pitchFamily="34" charset="-122"/>
              <a:cs typeface="思源黑体-思源黑体-Medium" pitchFamily="34" charset="-120"/>
            </a:endParaRPr>
          </a:p>
          <a:p>
            <a:pPr marL="0" indent="0" algn="l">
              <a:lnSpc>
                <a:spcPts val="2230"/>
              </a:lnSpc>
              <a:buNone/>
            </a:pP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     </a:t>
            </a:r>
            <a:r>
              <a:rPr lang="en-US" sz="2000" dirty="0" err="1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def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display(self): </a:t>
            </a:r>
            <a:endParaRPr lang="en-US" sz="2000" dirty="0" smtClean="0">
              <a:solidFill>
                <a:srgbClr val="000000"/>
              </a:solidFill>
              <a:latin typeface="思源黑体-思源黑体-Medium" pitchFamily="34" charset="0"/>
              <a:ea typeface="思源黑体-思源黑体-Medium" pitchFamily="34" charset="-122"/>
              <a:cs typeface="思源黑体-思源黑体-Medium" pitchFamily="34" charset="-120"/>
            </a:endParaRPr>
          </a:p>
          <a:p>
            <a:pPr marL="0" indent="0" algn="l">
              <a:lnSpc>
                <a:spcPts val="223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          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print(f"Point3D</a:t>
            </a: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: ({self.x}, {self.y}, {self.z})") </a:t>
            </a:r>
            <a:endParaRPr lang="en-US" sz="2000" dirty="0" smtClean="0">
              <a:solidFill>
                <a:srgbClr val="000000"/>
              </a:solidFill>
              <a:latin typeface="思源黑体-思源黑体-Medium" pitchFamily="34" charset="0"/>
              <a:ea typeface="思源黑体-思源黑体-Medium" pitchFamily="34" charset="-122"/>
              <a:cs typeface="思源黑体-思源黑体-Medium" pitchFamily="34" charset="-120"/>
            </a:endParaRPr>
          </a:p>
          <a:p>
            <a:pPr marL="0" indent="0" algn="l">
              <a:lnSpc>
                <a:spcPts val="2230"/>
              </a:lnSpc>
              <a:buNone/>
            </a:pPr>
            <a:endParaRPr lang="en-US" sz="2000" dirty="0" smtClean="0">
              <a:solidFill>
                <a:srgbClr val="000000"/>
              </a:solidFill>
              <a:latin typeface="思源黑体-思源黑体-Medium" pitchFamily="34" charset="0"/>
              <a:ea typeface="思源黑体-思源黑体-Medium" pitchFamily="34" charset="-122"/>
              <a:cs typeface="思源黑体-思源黑体-Medium" pitchFamily="34" charset="-120"/>
            </a:endParaRPr>
          </a:p>
          <a:p>
            <a:pPr marL="0" indent="0" algn="l">
              <a:lnSpc>
                <a:spcPts val="2230"/>
              </a:lnSpc>
              <a:buNone/>
            </a:pP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     </a:t>
            </a:r>
            <a:r>
              <a:rPr lang="en-US" sz="2000" dirty="0" err="1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def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move(self, dx, dy, dz): </a:t>
            </a:r>
            <a:endParaRPr lang="en-US" sz="2000" dirty="0" smtClean="0">
              <a:solidFill>
                <a:srgbClr val="000000"/>
              </a:solidFill>
              <a:latin typeface="思源黑体-思源黑体-Medium" pitchFamily="34" charset="0"/>
              <a:ea typeface="思源黑体-思源黑体-Medium" pitchFamily="34" charset="-122"/>
              <a:cs typeface="思源黑体-思源黑体-Medium" pitchFamily="34" charset="-120"/>
            </a:endParaRPr>
          </a:p>
          <a:p>
            <a:pPr marL="0" indent="0" algn="l">
              <a:lnSpc>
                <a:spcPts val="223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          </a:t>
            </a:r>
            <a:r>
              <a:rPr lang="en-US" sz="2000" dirty="0" err="1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self.x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+= dx </a:t>
            </a:r>
            <a:endParaRPr lang="en-US" sz="2000" dirty="0" smtClean="0">
              <a:solidFill>
                <a:srgbClr val="000000"/>
              </a:solidFill>
              <a:latin typeface="思源黑体-思源黑体-Medium" pitchFamily="34" charset="0"/>
              <a:ea typeface="思源黑体-思源黑体-Medium" pitchFamily="34" charset="-122"/>
              <a:cs typeface="思源黑体-思源黑体-Medium" pitchFamily="34" charset="-120"/>
            </a:endParaRPr>
          </a:p>
          <a:p>
            <a:pPr marL="0" indent="0" algn="l">
              <a:lnSpc>
                <a:spcPts val="223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          </a:t>
            </a:r>
            <a:r>
              <a:rPr lang="en-US" sz="2000" dirty="0" err="1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self.y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+= </a:t>
            </a:r>
            <a:r>
              <a:rPr lang="en-US" sz="2000" dirty="0" err="1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dy</a:t>
            </a: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endParaRPr lang="en-US" sz="2000" dirty="0" smtClean="0">
              <a:solidFill>
                <a:srgbClr val="000000"/>
              </a:solidFill>
              <a:latin typeface="思源黑体-思源黑体-Medium" pitchFamily="34" charset="0"/>
              <a:ea typeface="思源黑体-思源黑体-Medium" pitchFamily="34" charset="-122"/>
              <a:cs typeface="思源黑体-思源黑体-Medium" pitchFamily="34" charset="-120"/>
            </a:endParaRPr>
          </a:p>
          <a:p>
            <a:pPr marL="0" indent="0" algn="l">
              <a:lnSpc>
                <a:spcPts val="223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          </a:t>
            </a:r>
            <a:r>
              <a:rPr lang="en-US" sz="2000" dirty="0" err="1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self.z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+= </a:t>
            </a:r>
            <a:r>
              <a:rPr lang="en-US" sz="2000" dirty="0" err="1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dz</a:t>
            </a: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endParaRPr lang="en-US" sz="2000" dirty="0" smtClean="0">
              <a:solidFill>
                <a:srgbClr val="000000"/>
              </a:solidFill>
              <a:latin typeface="思源黑体-思源黑体-Medium" pitchFamily="34" charset="0"/>
              <a:ea typeface="思源黑体-思源黑体-Medium" pitchFamily="34" charset="-122"/>
              <a:cs typeface="思源黑体-思源黑体-Medium" pitchFamily="34" charset="-120"/>
            </a:endParaRPr>
          </a:p>
          <a:p>
            <a:pPr marL="0" indent="0" algn="l">
              <a:lnSpc>
                <a:spcPts val="2230"/>
              </a:lnSpc>
              <a:buNone/>
            </a:pPr>
            <a:endParaRPr lang="en-US" sz="2000" dirty="0">
              <a:solidFill>
                <a:srgbClr val="000000"/>
              </a:solidFill>
              <a:latin typeface="思源黑体-思源黑体-Medium" pitchFamily="34" charset="0"/>
              <a:ea typeface="思源黑体-思源黑体-Medium" pitchFamily="34" charset="-122"/>
              <a:cs typeface="思源黑体-思源黑体-Medium" pitchFamily="34" charset="-120"/>
            </a:endParaRPr>
          </a:p>
          <a:p>
            <a:pPr marL="0" indent="0" algn="l">
              <a:lnSpc>
                <a:spcPts val="2230"/>
              </a:lnSpc>
              <a:buNone/>
            </a:pP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p </a:t>
            </a: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= Point3D(2, 4, 6) </a:t>
            </a:r>
            <a:endParaRPr lang="en-US" sz="2000" dirty="0" smtClean="0">
              <a:solidFill>
                <a:srgbClr val="000000"/>
              </a:solidFill>
              <a:latin typeface="思源黑体-思源黑体-Medium" pitchFamily="34" charset="0"/>
              <a:ea typeface="思源黑体-思源黑体-Medium" pitchFamily="34" charset="-122"/>
              <a:cs typeface="思源黑体-思源黑体-Medium" pitchFamily="34" charset="-120"/>
            </a:endParaRPr>
          </a:p>
          <a:p>
            <a:pPr marL="0" indent="0" algn="l">
              <a:lnSpc>
                <a:spcPts val="2230"/>
              </a:lnSpc>
              <a:buNone/>
            </a:pPr>
            <a:r>
              <a:rPr lang="en-US" sz="2000" dirty="0" err="1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p.move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(1</a:t>
            </a: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, 1, -2) </a:t>
            </a:r>
            <a:endParaRPr lang="en-US" sz="2000" dirty="0" smtClean="0">
              <a:solidFill>
                <a:srgbClr val="000000"/>
              </a:solidFill>
              <a:latin typeface="思源黑体-思源黑体-Medium" pitchFamily="34" charset="0"/>
              <a:ea typeface="思源黑体-思源黑体-Medium" pitchFamily="34" charset="-122"/>
              <a:cs typeface="思源黑体-思源黑体-Medium" pitchFamily="34" charset="-120"/>
            </a:endParaRPr>
          </a:p>
          <a:p>
            <a:pPr marL="0" indent="0" algn="l">
              <a:lnSpc>
                <a:spcPts val="2230"/>
              </a:lnSpc>
              <a:buNone/>
            </a:pPr>
            <a:r>
              <a:rPr lang="en-US" sz="2000" dirty="0" err="1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p.display</a:t>
            </a: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() /# Point3D: (3, 5, 4)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4" y="0"/>
            <a:ext cx="4974336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0956" y="1647378"/>
            <a:ext cx="80741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5. Adding a String Representation</a:t>
            </a:r>
            <a:endParaRPr lang="en-US" sz="4460" dirty="0"/>
          </a:p>
        </p:txBody>
      </p:sp>
      <p:sp>
        <p:nvSpPr>
          <p:cNvPr id="5" name="Text 1"/>
          <p:cNvSpPr/>
          <p:nvPr/>
        </p:nvSpPr>
        <p:spPr>
          <a:xfrm>
            <a:off x="790956" y="3207025"/>
            <a:ext cx="8074152" cy="356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class Point3D: </a:t>
            </a:r>
            <a:endParaRPr lang="en-US" sz="2000" dirty="0" smtClean="0">
              <a:solidFill>
                <a:srgbClr val="000000"/>
              </a:solidFill>
              <a:latin typeface="思源黑体-思源黑体-Medium" pitchFamily="34" charset="0"/>
              <a:ea typeface="思源黑体-思源黑体-Medium" pitchFamily="34" charset="-122"/>
              <a:cs typeface="思源黑体-思源黑体-Medium" pitchFamily="34" charset="-120"/>
            </a:endParaRPr>
          </a:p>
          <a:p>
            <a:pPr marL="0" indent="0" algn="l">
              <a:lnSpc>
                <a:spcPts val="223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    </a:t>
            </a:r>
            <a:r>
              <a:rPr lang="en-US" sz="2000" dirty="0" err="1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def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_init_(self, x, y, z): </a:t>
            </a:r>
            <a:endParaRPr lang="en-US" sz="2000" dirty="0" smtClean="0">
              <a:solidFill>
                <a:srgbClr val="000000"/>
              </a:solidFill>
              <a:latin typeface="思源黑体-思源黑体-Medium" pitchFamily="34" charset="0"/>
              <a:ea typeface="思源黑体-思源黑体-Medium" pitchFamily="34" charset="-122"/>
              <a:cs typeface="思源黑体-思源黑体-Medium" pitchFamily="34" charset="-120"/>
            </a:endParaRPr>
          </a:p>
          <a:p>
            <a:pPr marL="0" indent="0" algn="l">
              <a:lnSpc>
                <a:spcPts val="223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         </a:t>
            </a:r>
            <a:r>
              <a:rPr lang="en-US" sz="2000" dirty="0" err="1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self.x</a:t>
            </a: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, self.y, self.z = x, y, z </a:t>
            </a:r>
            <a:endParaRPr lang="en-US" sz="2000" dirty="0" smtClean="0">
              <a:solidFill>
                <a:srgbClr val="000000"/>
              </a:solidFill>
              <a:latin typeface="思源黑体-思源黑体-Medium" pitchFamily="34" charset="0"/>
              <a:ea typeface="思源黑体-思源黑体-Medium" pitchFamily="34" charset="-122"/>
              <a:cs typeface="思源黑体-思源黑体-Medium" pitchFamily="34" charset="-120"/>
            </a:endParaRPr>
          </a:p>
          <a:p>
            <a:pPr marL="0" indent="0" algn="l">
              <a:lnSpc>
                <a:spcPts val="223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     </a:t>
            </a:r>
            <a:r>
              <a:rPr lang="en-US" sz="2000" dirty="0" err="1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def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</a:t>
            </a:r>
            <a:r>
              <a:rPr lang="en-US" sz="2000" dirty="0" err="1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ef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_str_(self): </a:t>
            </a:r>
            <a:endParaRPr lang="en-US" sz="2000" dirty="0" smtClean="0">
              <a:solidFill>
                <a:srgbClr val="000000"/>
              </a:solidFill>
              <a:latin typeface="思源黑体-思源黑体-Medium" pitchFamily="34" charset="0"/>
              <a:ea typeface="思源黑体-思源黑体-Medium" pitchFamily="34" charset="-122"/>
              <a:cs typeface="思源黑体-思源黑体-Medium" pitchFamily="34" charset="-120"/>
            </a:endParaRPr>
          </a:p>
          <a:p>
            <a:pPr marL="0" indent="0" algn="l">
              <a:lnSpc>
                <a:spcPts val="223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         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return </a:t>
            </a: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f"({self.x}, {self.y}, {</a:t>
            </a:r>
            <a:r>
              <a:rPr lang="en-US" sz="2000" dirty="0" err="1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self.z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})”</a:t>
            </a:r>
          </a:p>
          <a:p>
            <a:pPr marL="0" indent="0" algn="l">
              <a:lnSpc>
                <a:spcPts val="2230"/>
              </a:lnSpc>
              <a:buNone/>
            </a:pP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" </a:t>
            </a:r>
          </a:p>
          <a:p>
            <a:pPr marL="0" indent="0" algn="l">
              <a:lnSpc>
                <a:spcPts val="2230"/>
              </a:lnSpc>
              <a:buNone/>
            </a:pP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p </a:t>
            </a: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= Point3D(1, 2, 3) </a:t>
            </a:r>
            <a:endParaRPr lang="en-US" sz="2000" dirty="0" smtClean="0">
              <a:solidFill>
                <a:srgbClr val="000000"/>
              </a:solidFill>
              <a:latin typeface="思源黑体-思源黑体-Medium" pitchFamily="34" charset="0"/>
              <a:ea typeface="思源黑体-思源黑体-Medium" pitchFamily="34" charset="-122"/>
              <a:cs typeface="思源黑体-思源黑体-Medium" pitchFamily="34" charset="-120"/>
            </a:endParaRPr>
          </a:p>
          <a:p>
            <a:pPr marL="0" indent="0" algn="l">
              <a:lnSpc>
                <a:spcPts val="2230"/>
              </a:lnSpc>
              <a:buNone/>
            </a:pP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print(p</a:t>
            </a: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) /# Output: (1, 2, 3)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9756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79512"/>
            <a:ext cx="585216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43116" y="722376"/>
            <a:ext cx="71963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6. Creating the Derived Class — Point2D</a:t>
            </a:r>
            <a:endParaRPr lang="en-US" sz="4460" dirty="0"/>
          </a:p>
        </p:txBody>
      </p:sp>
      <p:sp>
        <p:nvSpPr>
          <p:cNvPr id="5" name="Text 1"/>
          <p:cNvSpPr/>
          <p:nvPr/>
        </p:nvSpPr>
        <p:spPr>
          <a:xfrm>
            <a:off x="6647688" y="2529044"/>
            <a:ext cx="7196328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Let’s derive Point2D from Point3D but fix z = 0.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6647688" y="3114260"/>
            <a:ext cx="7320103" cy="1683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class Point2D(Point3D): </a:t>
            </a:r>
            <a:endParaRPr lang="en-US" sz="2000" dirty="0" smtClean="0">
              <a:solidFill>
                <a:srgbClr val="000000"/>
              </a:solidFill>
              <a:latin typeface="思源黑体-思源黑体-Medium" pitchFamily="34" charset="0"/>
              <a:ea typeface="思源黑体-思源黑体-Medium" pitchFamily="34" charset="-122"/>
              <a:cs typeface="思源黑体-思源黑体-Medium" pitchFamily="34" charset="-120"/>
            </a:endParaRPr>
          </a:p>
          <a:p>
            <a:pPr marL="0" indent="0" algn="l">
              <a:lnSpc>
                <a:spcPts val="223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    </a:t>
            </a:r>
            <a:r>
              <a:rPr lang="en-US" sz="2000" dirty="0" err="1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def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_init_(self, x, y): </a:t>
            </a:r>
            <a:endParaRPr lang="en-US" sz="2000" dirty="0" smtClean="0">
              <a:solidFill>
                <a:srgbClr val="000000"/>
              </a:solidFill>
              <a:latin typeface="思源黑体-思源黑体-Medium" pitchFamily="34" charset="0"/>
              <a:ea typeface="思源黑体-思源黑体-Medium" pitchFamily="34" charset="-122"/>
              <a:cs typeface="思源黑体-思源黑体-Medium" pitchFamily="34" charset="-120"/>
            </a:endParaRPr>
          </a:p>
          <a:p>
            <a:pPr marL="0" indent="0" algn="l">
              <a:lnSpc>
                <a:spcPts val="223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          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super</a:t>
            </a: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()._init_(x, y, 0) /# Call base class constructor</a:t>
            </a:r>
            <a:endParaRPr lang="en-US" sz="2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7477806"/>
            <a:ext cx="6409944" cy="731520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4072" y="7477806"/>
            <a:ext cx="6409944" cy="731520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6192" y="7560102"/>
            <a:ext cx="5678424" cy="731520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5592" y="7560102"/>
            <a:ext cx="5678424" cy="731520"/>
          </a:xfrm>
          <a:prstGeom prst="rect">
            <a:avLst/>
          </a:prstGeom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9676" y="6660286"/>
            <a:ext cx="548640" cy="54864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6657495" y="4999252"/>
            <a:ext cx="2633538" cy="5760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460"/>
              </a:lnSpc>
              <a:buNone/>
            </a:pPr>
            <a:r>
              <a:rPr lang="en-US" sz="357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Explanation</a:t>
            </a:r>
            <a:endParaRPr lang="en-US" sz="3570" dirty="0"/>
          </a:p>
        </p:txBody>
      </p:sp>
      <p:sp>
        <p:nvSpPr>
          <p:cNvPr id="16" name="Text 3"/>
          <p:cNvSpPr/>
          <p:nvPr/>
        </p:nvSpPr>
        <p:spPr>
          <a:xfrm>
            <a:off x="6953412" y="6678574"/>
            <a:ext cx="201168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210"/>
              </a:lnSpc>
              <a:buNone/>
            </a:pPr>
            <a:r>
              <a:rPr lang="en-US" sz="267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2670" dirty="0"/>
          </a:p>
        </p:txBody>
      </p:sp>
      <p:sp>
        <p:nvSpPr>
          <p:cNvPr id="17" name="Text 4"/>
          <p:cNvSpPr/>
          <p:nvPr/>
        </p:nvSpPr>
        <p:spPr>
          <a:xfrm>
            <a:off x="7529484" y="6751726"/>
            <a:ext cx="5678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Inheritance allows Point2D to reuse methods from Point3D.</a:t>
            </a:r>
            <a:endParaRPr lang="en-US" sz="20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6615" y="5772382"/>
            <a:ext cx="548640" cy="548640"/>
          </a:xfrm>
          <a:prstGeom prst="rect">
            <a:avLst/>
          </a:prstGeom>
        </p:spPr>
      </p:pic>
      <p:sp>
        <p:nvSpPr>
          <p:cNvPr id="19" name="Text 1"/>
          <p:cNvSpPr/>
          <p:nvPr/>
        </p:nvSpPr>
        <p:spPr>
          <a:xfrm>
            <a:off x="6901207" y="5790670"/>
            <a:ext cx="201168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210"/>
              </a:lnSpc>
              <a:buNone/>
            </a:pPr>
            <a:r>
              <a:rPr lang="en-US" sz="267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2670" dirty="0"/>
          </a:p>
        </p:txBody>
      </p:sp>
      <p:sp>
        <p:nvSpPr>
          <p:cNvPr id="20" name="Text 2"/>
          <p:cNvSpPr/>
          <p:nvPr/>
        </p:nvSpPr>
        <p:spPr>
          <a:xfrm>
            <a:off x="7486423" y="5863822"/>
            <a:ext cx="5678424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super() calls the parent (Point3D) constructor.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85216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48905" y="908702"/>
            <a:ext cx="7196328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7. Using Point2D Objects</a:t>
            </a:r>
            <a:endParaRPr lang="en-US" sz="4460" dirty="0"/>
          </a:p>
        </p:txBody>
      </p:sp>
      <p:sp>
        <p:nvSpPr>
          <p:cNvPr id="5" name="Text 1"/>
          <p:cNvSpPr/>
          <p:nvPr/>
        </p:nvSpPr>
        <p:spPr>
          <a:xfrm>
            <a:off x="6448905" y="1963707"/>
            <a:ext cx="7196328" cy="1124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p2 = Point2D(4, 7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)</a:t>
            </a:r>
          </a:p>
          <a:p>
            <a:pPr marL="0" indent="0" algn="l">
              <a:lnSpc>
                <a:spcPts val="2230"/>
              </a:lnSpc>
              <a:buNone/>
            </a:pP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print(p2</a:t>
            </a: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) /# (4, 7, 0) </a:t>
            </a:r>
            <a:endParaRPr lang="en-US" sz="2000" dirty="0" smtClean="0">
              <a:solidFill>
                <a:srgbClr val="000000"/>
              </a:solidFill>
              <a:latin typeface="思源黑体-思源黑体-Medium" pitchFamily="34" charset="0"/>
              <a:ea typeface="思源黑体-思源黑体-Medium" pitchFamily="34" charset="-122"/>
              <a:cs typeface="思源黑体-思源黑体-Medium" pitchFamily="34" charset="-120"/>
            </a:endParaRPr>
          </a:p>
          <a:p>
            <a:pPr marL="0" indent="0" algn="l">
              <a:lnSpc>
                <a:spcPts val="2230"/>
              </a:lnSpc>
              <a:buNone/>
            </a:pP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p2.display</a:t>
            </a: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() /# Point3D: (4, 7, 0)</a:t>
            </a:r>
            <a:endParaRPr lang="en-US" sz="2000" dirty="0"/>
          </a:p>
        </p:txBody>
      </p:sp>
      <p:sp>
        <p:nvSpPr>
          <p:cNvPr id="6" name="Text 0"/>
          <p:cNvSpPr/>
          <p:nvPr/>
        </p:nvSpPr>
        <p:spPr>
          <a:xfrm>
            <a:off x="6448905" y="3330417"/>
            <a:ext cx="7196328" cy="5760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460"/>
              </a:lnSpc>
              <a:buNone/>
            </a:pPr>
            <a:r>
              <a:rPr lang="en-US" sz="357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Key Concept</a:t>
            </a:r>
            <a:endParaRPr lang="en-US" sz="3570" dirty="0"/>
          </a:p>
        </p:txBody>
      </p:sp>
      <p:sp>
        <p:nvSpPr>
          <p:cNvPr id="7" name="Text 1"/>
          <p:cNvSpPr/>
          <p:nvPr/>
        </p:nvSpPr>
        <p:spPr>
          <a:xfrm>
            <a:off x="6448905" y="4347374"/>
            <a:ext cx="7196328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Although it’s a 2D point, it behaves like a 3D point with z = 0.</a:t>
            </a:r>
            <a:endParaRPr lang="en-US" sz="2000" dirty="0"/>
          </a:p>
        </p:txBody>
      </p:sp>
      <p:sp>
        <p:nvSpPr>
          <p:cNvPr id="23" name="Rectangle 22"/>
          <p:cNvSpPr/>
          <p:nvPr/>
        </p:nvSpPr>
        <p:spPr>
          <a:xfrm>
            <a:off x="6448905" y="5071723"/>
            <a:ext cx="46842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Adding Distance Calculation</a:t>
            </a:r>
            <a:endParaRPr lang="en-US" sz="2800" dirty="0"/>
          </a:p>
        </p:txBody>
      </p:sp>
      <p:sp>
        <p:nvSpPr>
          <p:cNvPr id="24" name="Rectangle 23"/>
          <p:cNvSpPr/>
          <p:nvPr/>
        </p:nvSpPr>
        <p:spPr>
          <a:xfrm>
            <a:off x="6448905" y="5752536"/>
            <a:ext cx="7315200" cy="178510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230"/>
              </a:lnSpc>
            </a:pP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import math </a:t>
            </a:r>
          </a:p>
          <a:p>
            <a:pPr>
              <a:lnSpc>
                <a:spcPts val="2230"/>
              </a:lnSpc>
            </a:pP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class Point3D: </a:t>
            </a:r>
          </a:p>
          <a:p>
            <a:pPr>
              <a:lnSpc>
                <a:spcPts val="2230"/>
              </a:lnSpc>
            </a:pP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     </a:t>
            </a:r>
            <a:r>
              <a:rPr lang="en-US" sz="2000" dirty="0" err="1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def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_</a:t>
            </a:r>
            <a:r>
              <a:rPr lang="en-US" sz="2000" dirty="0" err="1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init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_(self, x, y, z): </a:t>
            </a:r>
          </a:p>
          <a:p>
            <a:pPr>
              <a:lnSpc>
                <a:spcPts val="2230"/>
              </a:lnSpc>
            </a:pP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          </a:t>
            </a:r>
            <a:r>
              <a:rPr lang="en-US" sz="2000" dirty="0" err="1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self.x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self.y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self.z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= x, y, z </a:t>
            </a:r>
          </a:p>
          <a:p>
            <a:pPr>
              <a:lnSpc>
                <a:spcPts val="2230"/>
              </a:lnSpc>
            </a:pP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     </a:t>
            </a:r>
            <a:r>
              <a:rPr lang="en-US" sz="2000" dirty="0" err="1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def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distance_from_origin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(self): </a:t>
            </a:r>
          </a:p>
          <a:p>
            <a:pPr>
              <a:lnSpc>
                <a:spcPts val="2230"/>
              </a:lnSpc>
            </a:pP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          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return </a:t>
            </a:r>
            <a:r>
              <a:rPr lang="en-US" sz="2000" dirty="0" err="1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math.sqrt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(</a:t>
            </a:r>
            <a:r>
              <a:rPr lang="en-US" sz="2000" dirty="0" err="1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self.x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**2 + </a:t>
            </a:r>
            <a:r>
              <a:rPr lang="en-US" sz="2000" dirty="0" err="1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self.y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**2 + </a:t>
            </a:r>
            <a:r>
              <a:rPr lang="en-US" sz="2000" dirty="0" err="1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self.z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**2)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85216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47688" y="3477105"/>
            <a:ext cx="71963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 smtClean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8. </a:t>
            </a:r>
            <a:r>
              <a:rPr lang="en-US" sz="446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Encapsulation &amp; Private Attributes</a:t>
            </a:r>
            <a:endParaRPr lang="en-US" sz="4460" dirty="0"/>
          </a:p>
        </p:txBody>
      </p:sp>
      <p:sp>
        <p:nvSpPr>
          <p:cNvPr id="5" name="Text 1"/>
          <p:cNvSpPr/>
          <p:nvPr/>
        </p:nvSpPr>
        <p:spPr>
          <a:xfrm>
            <a:off x="6647688" y="5515820"/>
            <a:ext cx="7196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In Python, private variables are prefixed with double underscores __.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6654163" y="6704143"/>
            <a:ext cx="719632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class Point3D: </a:t>
            </a:r>
            <a:endParaRPr lang="en-US" sz="2000" dirty="0" smtClean="0">
              <a:solidFill>
                <a:srgbClr val="000000"/>
              </a:solidFill>
              <a:latin typeface="思源黑体-思源黑体-Medium" pitchFamily="34" charset="0"/>
              <a:ea typeface="思源黑体-思源黑体-Medium" pitchFamily="34" charset="-122"/>
              <a:cs typeface="思源黑体-思源黑体-Medium" pitchFamily="34" charset="-120"/>
            </a:endParaRPr>
          </a:p>
          <a:p>
            <a:pPr marL="0" indent="0" algn="l">
              <a:lnSpc>
                <a:spcPts val="223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   </a:t>
            </a:r>
            <a:r>
              <a:rPr lang="en-US" sz="2000" dirty="0" err="1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def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_init_(self, x, y, z): </a:t>
            </a:r>
            <a:endParaRPr lang="en-US" sz="2000" dirty="0" smtClean="0">
              <a:solidFill>
                <a:srgbClr val="000000"/>
              </a:solidFill>
              <a:latin typeface="思源黑体-思源黑体-Medium" pitchFamily="34" charset="0"/>
              <a:ea typeface="思源黑体-思源黑体-Medium" pitchFamily="34" charset="-122"/>
              <a:cs typeface="思源黑体-思源黑体-Medium" pitchFamily="34" charset="-120"/>
            </a:endParaRPr>
          </a:p>
          <a:p>
            <a:pPr marL="0" indent="0" algn="l">
              <a:lnSpc>
                <a:spcPts val="223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         </a:t>
            </a:r>
            <a:r>
              <a:rPr lang="en-US" sz="2000" dirty="0" err="1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self</a:t>
            </a:r>
            <a:r>
              <a:rPr lang="en-US" sz="2000" dirty="0" err="1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.__x</a:t>
            </a: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= x self.__y = y self.__z = z </a:t>
            </a:r>
            <a:endParaRPr lang="en-US" sz="2000" dirty="0" smtClean="0">
              <a:solidFill>
                <a:srgbClr val="000000"/>
              </a:solidFill>
              <a:latin typeface="思源黑体-思源黑体-Medium" pitchFamily="34" charset="0"/>
              <a:ea typeface="思源黑体-思源黑体-Medium" pitchFamily="34" charset="-122"/>
              <a:cs typeface="思源黑体-思源黑体-Medium" pitchFamily="34" charset="-120"/>
            </a:endParaRPr>
          </a:p>
          <a:p>
            <a:pPr marL="0" indent="0" algn="l">
              <a:lnSpc>
                <a:spcPts val="223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   </a:t>
            </a:r>
            <a:r>
              <a:rPr lang="en-US" sz="2000" dirty="0" err="1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def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display(self): </a:t>
            </a:r>
            <a:endParaRPr lang="en-US" sz="2000" dirty="0" smtClean="0">
              <a:solidFill>
                <a:srgbClr val="000000"/>
              </a:solidFill>
              <a:latin typeface="思源黑体-思源黑体-Medium" pitchFamily="34" charset="0"/>
              <a:ea typeface="思源黑体-思源黑体-Medium" pitchFamily="34" charset="-122"/>
              <a:cs typeface="思源黑体-思源黑体-Medium" pitchFamily="34" charset="-120"/>
            </a:endParaRPr>
          </a:p>
          <a:p>
            <a:pPr marL="0" indent="0" algn="l">
              <a:lnSpc>
                <a:spcPts val="223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         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print(f"Point3D</a:t>
            </a: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: ({self.__x}, {self.__y}, {self.__z})")</a:t>
            </a:r>
            <a:endParaRPr lang="en-US" sz="2000" dirty="0"/>
          </a:p>
        </p:txBody>
      </p:sp>
      <p:sp>
        <p:nvSpPr>
          <p:cNvPr id="10" name="Rectangle 9"/>
          <p:cNvSpPr/>
          <p:nvPr/>
        </p:nvSpPr>
        <p:spPr>
          <a:xfrm>
            <a:off x="6654163" y="334528"/>
            <a:ext cx="6998711" cy="6694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4460"/>
              </a:lnSpc>
            </a:pPr>
            <a:r>
              <a:rPr lang="en-US" sz="3600" dirty="0" smtClean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Works for both 3D and 2D points:</a:t>
            </a:r>
            <a:endParaRPr lang="en-US" sz="3600" dirty="0"/>
          </a:p>
        </p:txBody>
      </p:sp>
      <p:sp>
        <p:nvSpPr>
          <p:cNvPr id="11" name="Rectangle 10"/>
          <p:cNvSpPr/>
          <p:nvPr/>
        </p:nvSpPr>
        <p:spPr>
          <a:xfrm>
            <a:off x="6811617" y="1470604"/>
            <a:ext cx="7315200" cy="150297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230"/>
              </a:lnSpc>
            </a:pP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p3 = Point3D(3, 4, 12) </a:t>
            </a:r>
          </a:p>
          <a:p>
            <a:pPr>
              <a:lnSpc>
                <a:spcPts val="2230"/>
              </a:lnSpc>
            </a:pP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p2 = Point2D(3, 4) </a:t>
            </a:r>
          </a:p>
          <a:p>
            <a:pPr>
              <a:lnSpc>
                <a:spcPts val="2230"/>
              </a:lnSpc>
            </a:pPr>
            <a:endParaRPr lang="en-US" sz="2000" dirty="0" smtClean="0">
              <a:solidFill>
                <a:srgbClr val="000000"/>
              </a:solidFill>
              <a:latin typeface="思源黑体-思源黑体-Medium" pitchFamily="34" charset="0"/>
              <a:ea typeface="思源黑体-思源黑体-Medium" pitchFamily="34" charset="-122"/>
              <a:cs typeface="思源黑体-思源黑体-Medium" pitchFamily="34" charset="-120"/>
            </a:endParaRPr>
          </a:p>
          <a:p>
            <a:pPr>
              <a:lnSpc>
                <a:spcPts val="2230"/>
              </a:lnSpc>
            </a:pP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print(p3.distance_from_origin()) /# 13.0 print(p2.distance_from_origin()) /# 5.0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4" y="0"/>
            <a:ext cx="4974336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5528" y="2761488"/>
            <a:ext cx="8074152" cy="5760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460"/>
              </a:lnSpc>
              <a:buNone/>
            </a:pPr>
            <a:r>
              <a:rPr lang="en-US" sz="357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Accessing them directly:</a:t>
            </a:r>
            <a:endParaRPr lang="en-US" sz="3570" dirty="0"/>
          </a:p>
        </p:txBody>
      </p:sp>
      <p:sp>
        <p:nvSpPr>
          <p:cNvPr id="5" name="Text 1"/>
          <p:cNvSpPr/>
          <p:nvPr/>
        </p:nvSpPr>
        <p:spPr>
          <a:xfrm>
            <a:off x="795528" y="3584448"/>
            <a:ext cx="8074152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p = Point3D(1, 2, 3) </a:t>
            </a:r>
            <a:endParaRPr lang="en-US" sz="2000" dirty="0" smtClean="0">
              <a:solidFill>
                <a:srgbClr val="000000"/>
              </a:solidFill>
              <a:latin typeface="思源黑体-思源黑体-Medium" pitchFamily="34" charset="0"/>
              <a:ea typeface="思源黑体-思源黑体-Medium" pitchFamily="34" charset="-122"/>
              <a:cs typeface="思源黑体-思源黑体-Medium" pitchFamily="34" charset="-120"/>
            </a:endParaRPr>
          </a:p>
          <a:p>
            <a:pPr marL="0" indent="0" algn="l">
              <a:lnSpc>
                <a:spcPts val="2230"/>
              </a:lnSpc>
              <a:buNone/>
            </a:pP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print(</a:t>
            </a:r>
            <a:r>
              <a:rPr lang="en-US" sz="2000" dirty="0" err="1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p</a:t>
            </a:r>
            <a:r>
              <a:rPr lang="en-US" sz="2000" dirty="0" err="1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.__x</a:t>
            </a: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) /# ❌ AttributeError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790956" y="4719894"/>
            <a:ext cx="8074152" cy="5760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460"/>
              </a:lnSpc>
              <a:buNone/>
            </a:pPr>
            <a:r>
              <a:rPr lang="en-US" sz="357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Access safely via methods:</a:t>
            </a:r>
            <a:endParaRPr lang="en-US" sz="3570" dirty="0"/>
          </a:p>
        </p:txBody>
      </p:sp>
      <p:sp>
        <p:nvSpPr>
          <p:cNvPr id="7" name="Text 3"/>
          <p:cNvSpPr/>
          <p:nvPr/>
        </p:nvSpPr>
        <p:spPr>
          <a:xfrm>
            <a:off x="795528" y="5815584"/>
            <a:ext cx="8074152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def get_x(self): </a:t>
            </a:r>
            <a:endParaRPr lang="en-US" sz="2000" dirty="0" smtClean="0">
              <a:solidFill>
                <a:srgbClr val="000000"/>
              </a:solidFill>
              <a:latin typeface="思源黑体-思源黑体-Medium" pitchFamily="34" charset="0"/>
              <a:ea typeface="思源黑体-思源黑体-Medium" pitchFamily="34" charset="-122"/>
              <a:cs typeface="思源黑体-思源黑体-Medium" pitchFamily="34" charset="-120"/>
            </a:endParaRPr>
          </a:p>
          <a:p>
            <a:pPr marL="0" indent="0" algn="l">
              <a:lnSpc>
                <a:spcPts val="223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  </a:t>
            </a:r>
            <a:r>
              <a:rPr lang="en-US" sz="2000" dirty="0" smtClean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return </a:t>
            </a: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self.__x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3154680"/>
            <a:ext cx="6409944" cy="73152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4105656"/>
            <a:ext cx="6409944" cy="1700784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6035040"/>
            <a:ext cx="6409944" cy="73152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4072" y="3154680"/>
            <a:ext cx="6409944" cy="73152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4072" y="4105656"/>
            <a:ext cx="6409944" cy="1700784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6192" y="3236976"/>
            <a:ext cx="5678424" cy="73152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36192" y="4187952"/>
            <a:ext cx="5678424" cy="1700784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6192" y="6108192"/>
            <a:ext cx="5678424" cy="73152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5592" y="3236976"/>
            <a:ext cx="5678424" cy="73152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5592" y="4187952"/>
            <a:ext cx="5678424" cy="1700784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6384" y="3145536"/>
            <a:ext cx="548640" cy="54864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6384" y="4096512"/>
            <a:ext cx="548640" cy="54864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6384" y="6016752"/>
            <a:ext cx="548640" cy="54864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15784" y="3145536"/>
            <a:ext cx="548640" cy="54864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15784" y="4096512"/>
            <a:ext cx="548640" cy="54864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795528" y="1490472"/>
            <a:ext cx="130484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9</a:t>
            </a:r>
            <a:r>
              <a:rPr lang="en-US" sz="4460" dirty="0" smtClean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. </a:t>
            </a:r>
            <a:r>
              <a:rPr lang="en-US" sz="446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Exercise — Create a New Base and Derived Class</a:t>
            </a:r>
            <a:endParaRPr lang="en-US" sz="4460" dirty="0"/>
          </a:p>
        </p:txBody>
      </p:sp>
      <p:sp>
        <p:nvSpPr>
          <p:cNvPr id="20" name="Text 1"/>
          <p:cNvSpPr/>
          <p:nvPr/>
        </p:nvSpPr>
        <p:spPr>
          <a:xfrm>
            <a:off x="950976" y="3163824"/>
            <a:ext cx="201168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210"/>
              </a:lnSpc>
              <a:buNone/>
            </a:pPr>
            <a:r>
              <a:rPr lang="en-US" sz="267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2670" dirty="0"/>
          </a:p>
        </p:txBody>
      </p:sp>
      <p:sp>
        <p:nvSpPr>
          <p:cNvPr id="21" name="Text 2"/>
          <p:cNvSpPr/>
          <p:nvPr/>
        </p:nvSpPr>
        <p:spPr>
          <a:xfrm>
            <a:off x="1536192" y="3236976"/>
            <a:ext cx="5678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Design a base class Shape with attributes like color and a method area().</a:t>
            </a:r>
            <a:endParaRPr lang="en-US" sz="1780" dirty="0"/>
          </a:p>
        </p:txBody>
      </p:sp>
      <p:sp>
        <p:nvSpPr>
          <p:cNvPr id="22" name="Text 3"/>
          <p:cNvSpPr/>
          <p:nvPr/>
        </p:nvSpPr>
        <p:spPr>
          <a:xfrm>
            <a:off x="950976" y="4114800"/>
            <a:ext cx="201168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210"/>
              </a:lnSpc>
              <a:buNone/>
            </a:pPr>
            <a:r>
              <a:rPr lang="en-US" sz="267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2670" dirty="0"/>
          </a:p>
        </p:txBody>
      </p:sp>
      <p:sp>
        <p:nvSpPr>
          <p:cNvPr id="23" name="Text 4"/>
          <p:cNvSpPr/>
          <p:nvPr/>
        </p:nvSpPr>
        <p:spPr>
          <a:xfrm>
            <a:off x="1536192" y="4187952"/>
            <a:ext cx="5678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Each derived class should override the area() method:</a:t>
            </a:r>
            <a:endParaRPr lang="en-US" sz="1780" dirty="0"/>
          </a:p>
        </p:txBody>
      </p:sp>
      <p:sp>
        <p:nvSpPr>
          <p:cNvPr id="24" name="Text 5"/>
          <p:cNvSpPr/>
          <p:nvPr/>
        </p:nvSpPr>
        <p:spPr>
          <a:xfrm>
            <a:off x="1536192" y="4956048"/>
            <a:ext cx="5678424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 • Rectangle: area = width * height</a:t>
            </a:r>
            <a:endParaRPr lang="en-US" sz="1780" dirty="0"/>
          </a:p>
        </p:txBody>
      </p:sp>
      <p:sp>
        <p:nvSpPr>
          <p:cNvPr id="25" name="Text 6"/>
          <p:cNvSpPr/>
          <p:nvPr/>
        </p:nvSpPr>
        <p:spPr>
          <a:xfrm>
            <a:off x="1536192" y="5440680"/>
            <a:ext cx="5678424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 • Circle: area = π * r²</a:t>
            </a:r>
            <a:endParaRPr lang="en-US" sz="1780" dirty="0"/>
          </a:p>
        </p:txBody>
      </p:sp>
      <p:sp>
        <p:nvSpPr>
          <p:cNvPr id="26" name="Text 7"/>
          <p:cNvSpPr/>
          <p:nvPr/>
        </p:nvSpPr>
        <p:spPr>
          <a:xfrm>
            <a:off x="950976" y="6044184"/>
            <a:ext cx="201168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210"/>
              </a:lnSpc>
              <a:buNone/>
            </a:pPr>
            <a:r>
              <a:rPr lang="en-US" sz="267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5</a:t>
            </a:r>
            <a:endParaRPr lang="en-US" sz="2670" dirty="0"/>
          </a:p>
        </p:txBody>
      </p:sp>
      <p:sp>
        <p:nvSpPr>
          <p:cNvPr id="27" name="Text 8"/>
          <p:cNvSpPr/>
          <p:nvPr/>
        </p:nvSpPr>
        <p:spPr>
          <a:xfrm>
            <a:off x="1536192" y="6108192"/>
            <a:ext cx="5678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Create multiple objects, store them in a list, and loop through to print their details and areas.</a:t>
            </a:r>
            <a:endParaRPr lang="en-US" sz="1780" dirty="0"/>
          </a:p>
        </p:txBody>
      </p:sp>
      <p:sp>
        <p:nvSpPr>
          <p:cNvPr id="28" name="Text 9"/>
          <p:cNvSpPr/>
          <p:nvPr/>
        </p:nvSpPr>
        <p:spPr>
          <a:xfrm>
            <a:off x="7589520" y="3163824"/>
            <a:ext cx="201168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210"/>
              </a:lnSpc>
              <a:buNone/>
            </a:pPr>
            <a:r>
              <a:rPr lang="en-US" sz="267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2670" dirty="0"/>
          </a:p>
        </p:txBody>
      </p:sp>
      <p:sp>
        <p:nvSpPr>
          <p:cNvPr id="29" name="Text 10"/>
          <p:cNvSpPr/>
          <p:nvPr/>
        </p:nvSpPr>
        <p:spPr>
          <a:xfrm>
            <a:off x="7589520" y="4114800"/>
            <a:ext cx="201168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210"/>
              </a:lnSpc>
              <a:buNone/>
            </a:pPr>
            <a:r>
              <a:rPr lang="en-US" sz="267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4</a:t>
            </a:r>
            <a:endParaRPr lang="en-US" sz="2670" dirty="0"/>
          </a:p>
        </p:txBody>
      </p:sp>
      <p:sp>
        <p:nvSpPr>
          <p:cNvPr id="30" name="Text 11"/>
          <p:cNvSpPr/>
          <p:nvPr/>
        </p:nvSpPr>
        <p:spPr>
          <a:xfrm>
            <a:off x="8165592" y="3236976"/>
            <a:ext cx="5678424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Derive classes like Rectangle and Circle from Shape.</a:t>
            </a:r>
            <a:endParaRPr lang="en-US" sz="1780" dirty="0"/>
          </a:p>
        </p:txBody>
      </p:sp>
      <p:sp>
        <p:nvSpPr>
          <p:cNvPr id="31" name="Text 12"/>
          <p:cNvSpPr/>
          <p:nvPr/>
        </p:nvSpPr>
        <p:spPr>
          <a:xfrm>
            <a:off x="8165592" y="4187952"/>
            <a:ext cx="5678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Add a _str_() method in each class to show shape information.</a:t>
            </a:r>
            <a:endParaRPr lang="en-US" sz="1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5528" y="3502152"/>
            <a:ext cx="13048488" cy="9784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sz="616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Thank You</a:t>
            </a:r>
            <a:endParaRPr lang="en-US" sz="61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635</TotalTime>
  <Words>758</Words>
  <Application>Microsoft Office PowerPoint</Application>
  <PresentationFormat>Custom</PresentationFormat>
  <Paragraphs>119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思源黑体-思源黑体-Medium</vt:lpstr>
      <vt:lpstr>思源黑体-思源黑体-SemiBold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11</cp:revision>
  <dcterms:created xsi:type="dcterms:W3CDTF">2025-10-29T19:10:37Z</dcterms:created>
  <dcterms:modified xsi:type="dcterms:W3CDTF">2025-10-30T05:49:35Z</dcterms:modified>
</cp:coreProperties>
</file>